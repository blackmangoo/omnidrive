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7" r:id="rId3"/>
    <p:sldId id="279" r:id="rId4"/>
    <p:sldId id="272" r:id="rId5"/>
    <p:sldId id="261" r:id="rId6"/>
    <p:sldId id="262" r:id="rId7"/>
    <p:sldId id="260" r:id="rId8"/>
    <p:sldId id="266" r:id="rId9"/>
    <p:sldId id="268" r:id="rId10"/>
    <p:sldId id="267" r:id="rId12"/>
    <p:sldId id="273" r:id="rId13"/>
    <p:sldId id="274" r:id="rId14"/>
    <p:sldId id="275" r:id="rId15"/>
    <p:sldId id="276" r:id="rId16"/>
    <p:sldId id="277" r:id="rId17"/>
    <p:sldId id="270" r:id="rId18"/>
    <p:sldId id="278"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4FF0AFE3-BCA3-4E58-AD8F-CCAB08ACC55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08948F-5FDE-402E-88F7-DF68D4DBB99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FF0AFE3-BCA3-4E58-AD8F-CCAB08ACC55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08948F-5FDE-402E-88F7-DF68D4DBB99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FF0AFE3-BCA3-4E58-AD8F-CCAB08ACC55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08948F-5FDE-402E-88F7-DF68D4DBB99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4FF0AFE3-BCA3-4E58-AD8F-CCAB08ACC55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08948F-5FDE-402E-88F7-DF68D4DBB99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4FF0AFE3-BCA3-4E58-AD8F-CCAB08ACC55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08948F-5FDE-402E-88F7-DF68D4DBB99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4FF0AFE3-BCA3-4E58-AD8F-CCAB08ACC55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08948F-5FDE-402E-88F7-DF68D4DBB99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F0AFE3-BCA3-4E58-AD8F-CCAB08ACC55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08948F-5FDE-402E-88F7-DF68D4DBB99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FF0AFE3-BCA3-4E58-AD8F-CCAB08ACC55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08948F-5FDE-402E-88F7-DF68D4DBB99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FF0AFE3-BCA3-4E58-AD8F-CCAB08ACC55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08948F-5FDE-402E-88F7-DF68D4DBB99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FF0AFE3-BCA3-4E58-AD8F-CCAB08ACC55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08948F-5FDE-402E-88F7-DF68D4DBB99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FF0AFE3-BCA3-4E58-AD8F-CCAB08ACC55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08948F-5FDE-402E-88F7-DF68D4DBB99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F0AFE3-BCA3-4E58-AD8F-CCAB08ACC55D}"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08948F-5FDE-402E-88F7-DF68D4DBB99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73723"/>
            <a:ext cx="9144000" cy="2387600"/>
          </a:xfrm>
        </p:spPr>
        <p:txBody>
          <a:bodyPr/>
          <a:lstStyle/>
          <a:p>
            <a:r>
              <a:rPr lang="en-US" b="1" dirty="0">
                <a:solidFill>
                  <a:schemeClr val="accent1">
                    <a:lumMod val="60000"/>
                    <a:lumOff val="40000"/>
                  </a:schemeClr>
                </a:solidFill>
              </a:rPr>
              <a:t>Mid Evaluation</a:t>
            </a:r>
            <a:endParaRPr lang="en-US" b="1" dirty="0">
              <a:solidFill>
                <a:schemeClr val="accent1">
                  <a:lumMod val="60000"/>
                  <a:lumOff val="40000"/>
                </a:schemeClr>
              </a:solidFill>
            </a:endParaRPr>
          </a:p>
        </p:txBody>
      </p:sp>
      <p:sp>
        <p:nvSpPr>
          <p:cNvPr id="3" name="Subtitle 2"/>
          <p:cNvSpPr>
            <a:spLocks noGrp="1"/>
          </p:cNvSpPr>
          <p:nvPr>
            <p:ph type="subTitle" idx="1"/>
          </p:nvPr>
        </p:nvSpPr>
        <p:spPr>
          <a:xfrm>
            <a:off x="1524000" y="3130232"/>
            <a:ext cx="9144000" cy="2012181"/>
          </a:xfrm>
        </p:spPr>
        <p:txBody>
          <a:bodyPr>
            <a:normAutofit fontScale="25000"/>
          </a:bodyPr>
          <a:lstStyle/>
          <a:p>
            <a:r>
              <a:rPr lang="en-US" sz="8000" b="1" dirty="0">
                <a:solidFill>
                  <a:schemeClr val="accent1">
                    <a:lumMod val="60000"/>
                    <a:lumOff val="40000"/>
                  </a:schemeClr>
                </a:solidFill>
              </a:rPr>
              <a:t>Team</a:t>
            </a:r>
            <a:endParaRPr lang="en-US" sz="8000" b="1" dirty="0">
              <a:solidFill>
                <a:schemeClr val="accent1">
                  <a:lumMod val="60000"/>
                  <a:lumOff val="40000"/>
                </a:schemeClr>
              </a:solidFill>
            </a:endParaRPr>
          </a:p>
          <a:p>
            <a:pPr algn="ctr"/>
            <a:r>
              <a:rPr lang="en-US" sz="7200" dirty="0"/>
              <a:t>Murtaza Mehdi 22F-3101</a:t>
            </a:r>
            <a:endParaRPr lang="en-US" sz="7200" dirty="0"/>
          </a:p>
          <a:p>
            <a:pPr algn="ctr"/>
            <a:r>
              <a:rPr lang="en-US" sz="7200" dirty="0"/>
              <a:t>Ammar Akbar 22F-3102</a:t>
            </a:r>
            <a:endParaRPr lang="en-US" sz="7200" dirty="0"/>
          </a:p>
          <a:p>
            <a:pPr algn="ctr"/>
            <a:r>
              <a:rPr lang="en-US" sz="7200" dirty="0"/>
              <a:t>Sardar Sameer 22F-3162</a:t>
            </a:r>
            <a:endParaRPr lang="en-US" sz="7200" dirty="0"/>
          </a:p>
          <a:p>
            <a:pPr algn="ctr"/>
            <a:endParaRPr lang="en-US" sz="8000" b="1" dirty="0">
              <a:solidFill>
                <a:schemeClr val="accent1">
                  <a:lumMod val="60000"/>
                  <a:lumOff val="40000"/>
                </a:schemeClr>
              </a:solidFill>
              <a:sym typeface="+mn-ea"/>
            </a:endParaRPr>
          </a:p>
          <a:p>
            <a:pPr algn="ctr"/>
            <a:r>
              <a:rPr lang="en-US" sz="8000" b="1" dirty="0">
                <a:solidFill>
                  <a:schemeClr val="accent1">
                    <a:lumMod val="60000"/>
                    <a:lumOff val="40000"/>
                  </a:schemeClr>
                </a:solidFill>
                <a:sym typeface="+mn-ea"/>
              </a:rPr>
              <a:t>Supervised by</a:t>
            </a:r>
            <a:endParaRPr lang="en-US" sz="8000" b="1" dirty="0">
              <a:solidFill>
                <a:schemeClr val="accent1">
                  <a:lumMod val="60000"/>
                  <a:lumOff val="40000"/>
                </a:schemeClr>
              </a:solidFill>
              <a:sym typeface="+mn-ea"/>
            </a:endParaRPr>
          </a:p>
          <a:p>
            <a:pPr algn="ctr"/>
            <a:r>
              <a:rPr lang="en-US" sz="7200" dirty="0"/>
              <a:t>Ms. Juhinah Batool</a:t>
            </a:r>
            <a:endParaRPr lang="en-US" sz="7200" dirty="0"/>
          </a:p>
        </p:txBody>
      </p:sp>
      <p:pic>
        <p:nvPicPr>
          <p:cNvPr id="4" name="Content Placeholder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546475" y="602615"/>
            <a:ext cx="5373370" cy="1325880"/>
          </a:xfrm>
        </p:spPr>
        <p:txBody>
          <a:bodyPr>
            <a:noAutofit/>
          </a:bodyPr>
          <a:p>
            <a:r>
              <a:rPr lang="en-US" sz="8000" b="1" dirty="0">
                <a:solidFill>
                  <a:schemeClr val="accent1">
                    <a:lumMod val="60000"/>
                    <a:lumOff val="40000"/>
                  </a:schemeClr>
                </a:solidFill>
                <a:sym typeface="+mn-ea"/>
              </a:rPr>
              <a:t>OmniDrive</a:t>
            </a:r>
            <a:endParaRPr lang="en-US" altLang="en-US" sz="8000" b="1" dirty="0">
              <a:solidFill>
                <a:schemeClr val="accent1">
                  <a:lumMod val="60000"/>
                  <a:lumOff val="40000"/>
                </a:schemeClr>
              </a:solidFill>
              <a:sym typeface="+mn-ea"/>
            </a:endParaRPr>
          </a:p>
        </p:txBody>
      </p:sp>
      <p:pic>
        <p:nvPicPr>
          <p:cNvPr id="4" name="Content Placeholder 3" descr="fiballogo"/>
          <p:cNvPicPr>
            <a:picLocks noChangeAspect="1"/>
          </p:cNvPicPr>
          <p:nvPr>
            <p:ph idx="1"/>
          </p:nvPr>
        </p:nvPicPr>
        <p:blipFill>
          <a:blip r:embed="rId1"/>
          <a:srcRect b="25609"/>
          <a:stretch>
            <a:fillRect/>
          </a:stretch>
        </p:blipFill>
        <p:spPr>
          <a:xfrm>
            <a:off x="802005" y="1445260"/>
            <a:ext cx="10203180" cy="3967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60000"/>
                    <a:lumOff val="40000"/>
                  </a:schemeClr>
                </a:solidFill>
              </a:rPr>
              <a:t>Introduction</a:t>
            </a:r>
            <a:endParaRPr lang="en-US" b="1" dirty="0">
              <a:solidFill>
                <a:schemeClr val="accent1">
                  <a:lumMod val="60000"/>
                  <a:lumOff val="40000"/>
                </a:schemeClr>
              </a:solidFill>
            </a:endParaRPr>
          </a:p>
        </p:txBody>
      </p:sp>
      <p:sp>
        <p:nvSpPr>
          <p:cNvPr id="3" name="Content Placeholder 2"/>
          <p:cNvSpPr>
            <a:spLocks noGrp="1"/>
          </p:cNvSpPr>
          <p:nvPr>
            <p:ph idx="1"/>
          </p:nvPr>
        </p:nvSpPr>
        <p:spPr/>
        <p:txBody>
          <a:bodyPr>
            <a:normAutofit/>
          </a:bodyPr>
          <a:lstStyle/>
          <a:p>
            <a:pPr marL="0" indent="0" algn="just">
              <a:buNone/>
            </a:pPr>
            <a:r>
              <a:rPr lang="en-US" altLang="en-GB" dirty="0"/>
              <a:t>Our project “</a:t>
            </a:r>
            <a:r>
              <a:rPr lang="en-US" altLang="en-GB" b="1" dirty="0"/>
              <a:t>OmniDrive</a:t>
            </a:r>
            <a:r>
              <a:rPr lang="en-US" altLang="en-GB" dirty="0"/>
              <a:t>” introduces an intelligent, integrated ecosystem designed to assist automotive enthusiasts and car owners in identifying vehicle components and optimizing performance with greater accuracy and expertise. The system addresses key challenges in the fragmented local automotive market, including the difficulty of accurate part identification, lack of expert modification advice, and the absence of a streamlined supply chain between vendors and customers.</a:t>
            </a:r>
            <a:endParaRPr lang="en-US" altLang="en-GB" dirty="0"/>
          </a:p>
        </p:txBody>
      </p:sp>
      <p:pic>
        <p:nvPicPr>
          <p:cNvPr id="4" name="Content Placeholder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a:solidFill>
                  <a:schemeClr val="accent1">
                    <a:lumMod val="60000"/>
                    <a:lumOff val="40000"/>
                  </a:schemeClr>
                </a:solidFill>
              </a:rPr>
              <a:t> Outline (FYP Report v 1.0)</a:t>
            </a:r>
            <a:endParaRPr lang="en-US" b="1" dirty="0">
              <a:solidFill>
                <a:schemeClr val="accent1">
                  <a:lumMod val="60000"/>
                  <a:lumOff val="40000"/>
                </a:schemeClr>
              </a:solidFill>
            </a:endParaRPr>
          </a:p>
        </p:txBody>
      </p:sp>
      <p:sp>
        <p:nvSpPr>
          <p:cNvPr id="3" name="Content Placeholder 2"/>
          <p:cNvSpPr>
            <a:spLocks noGrp="1"/>
          </p:cNvSpPr>
          <p:nvPr>
            <p:ph idx="1"/>
          </p:nvPr>
        </p:nvSpPr>
        <p:spPr/>
        <p:txBody>
          <a:bodyPr>
            <a:normAutofit lnSpcReduction="20000"/>
          </a:bodyPr>
          <a:lstStyle/>
          <a:p>
            <a:pPr marL="800100" lvl="1" indent="-342900">
              <a:buFont typeface="Wingdings" panose="05000000000000000000" pitchFamily="2" charset="2"/>
              <a:buChar char="§"/>
            </a:pPr>
            <a:r>
              <a:rPr lang="en-US" i="0" u="none" strike="noStrike" baseline="0" dirty="0">
                <a:solidFill>
                  <a:schemeClr val="tx1"/>
                </a:solidFill>
                <a:latin typeface="+mj-lt"/>
              </a:rPr>
              <a:t>Project Vision 	</a:t>
            </a:r>
            <a:endParaRPr lang="en-US" i="0" u="none" strike="noStrike" baseline="0" dirty="0">
              <a:solidFill>
                <a:schemeClr val="tx1"/>
              </a:solidFill>
              <a:latin typeface="+mj-lt"/>
            </a:endParaRPr>
          </a:p>
          <a:p>
            <a:pPr marL="800100" lvl="1" indent="-342900">
              <a:buFont typeface="Wingdings" panose="05000000000000000000" pitchFamily="2" charset="2"/>
              <a:buChar char="§"/>
            </a:pPr>
            <a:r>
              <a:rPr lang="en-US" dirty="0">
                <a:solidFill>
                  <a:schemeClr val="tx1"/>
                </a:solidFill>
                <a:latin typeface="+mj-lt"/>
              </a:rPr>
              <a:t>Use Case Diagram</a:t>
            </a:r>
            <a:endParaRPr lang="en-US" dirty="0">
              <a:solidFill>
                <a:schemeClr val="tx1"/>
              </a:solidFill>
              <a:latin typeface="+mj-lt"/>
            </a:endParaRPr>
          </a:p>
          <a:p>
            <a:pPr marL="800100" lvl="1" indent="-342900">
              <a:buFont typeface="Wingdings" panose="05000000000000000000" pitchFamily="2" charset="2"/>
              <a:buChar char="§"/>
            </a:pPr>
            <a:r>
              <a:rPr lang="en-US" dirty="0">
                <a:solidFill>
                  <a:schemeClr val="tx1"/>
                </a:solidFill>
                <a:sym typeface="+mn-ea"/>
              </a:rPr>
              <a:t>Activity Diagram</a:t>
            </a:r>
            <a:endParaRPr lang="en-US" dirty="0">
              <a:solidFill>
                <a:schemeClr val="tx1"/>
              </a:solidFill>
            </a:endParaRPr>
          </a:p>
          <a:p>
            <a:pPr marL="800100" lvl="1" indent="-342900">
              <a:buFont typeface="Wingdings" panose="05000000000000000000" pitchFamily="2" charset="2"/>
              <a:buChar char="§"/>
            </a:pPr>
            <a:r>
              <a:rPr lang="en-US" dirty="0">
                <a:solidFill>
                  <a:schemeClr val="tx1"/>
                </a:solidFill>
                <a:sym typeface="+mn-ea"/>
              </a:rPr>
              <a:t>Sequence Diagram</a:t>
            </a:r>
            <a:endParaRPr lang="en-US" dirty="0">
              <a:solidFill>
                <a:schemeClr val="tx1"/>
              </a:solidFill>
              <a:sym typeface="+mn-ea"/>
            </a:endParaRPr>
          </a:p>
          <a:p>
            <a:pPr marL="800100" lvl="1" indent="-342900">
              <a:buFont typeface="Wingdings" panose="05000000000000000000" pitchFamily="2" charset="2"/>
              <a:buChar char="§"/>
            </a:pPr>
            <a:r>
              <a:rPr lang="en-US" dirty="0">
                <a:solidFill>
                  <a:schemeClr val="tx1"/>
                </a:solidFill>
                <a:sym typeface="+mn-ea"/>
              </a:rPr>
              <a:t>Class Diagram</a:t>
            </a:r>
            <a:endParaRPr lang="en-US" dirty="0">
              <a:solidFill>
                <a:schemeClr val="tx1"/>
              </a:solidFill>
              <a:sym typeface="+mn-ea"/>
            </a:endParaRPr>
          </a:p>
          <a:p>
            <a:pPr marL="800100" lvl="1" indent="-342900">
              <a:buFont typeface="Wingdings" panose="05000000000000000000" pitchFamily="2" charset="2"/>
              <a:buChar char="§"/>
            </a:pPr>
            <a:r>
              <a:rPr lang="en-US" dirty="0">
                <a:solidFill>
                  <a:schemeClr val="tx1"/>
                </a:solidFill>
                <a:sym typeface="+mn-ea"/>
              </a:rPr>
              <a:t>DFD level 0</a:t>
            </a:r>
            <a:r>
              <a:rPr lang="en-US" i="0" u="none" strike="noStrike" baseline="0" dirty="0">
                <a:solidFill>
                  <a:schemeClr val="tx1"/>
                </a:solidFill>
                <a:latin typeface="+mj-lt"/>
              </a:rPr>
              <a:t>	</a:t>
            </a:r>
            <a:endParaRPr lang="en-US" i="0" u="none" strike="noStrike" baseline="0" dirty="0">
              <a:solidFill>
                <a:schemeClr val="tx1"/>
              </a:solidFill>
              <a:latin typeface="+mj-lt"/>
            </a:endParaRPr>
          </a:p>
          <a:p>
            <a:pPr marL="800100" lvl="1" indent="-342900">
              <a:buFont typeface="Wingdings" panose="05000000000000000000" pitchFamily="2" charset="2"/>
              <a:buChar char="§"/>
            </a:pPr>
            <a:r>
              <a:rPr lang="en-US" dirty="0">
                <a:solidFill>
                  <a:schemeClr val="tx1"/>
                </a:solidFill>
                <a:sym typeface="+mn-ea"/>
              </a:rPr>
              <a:t>DFD level 1</a:t>
            </a:r>
            <a:endParaRPr lang="en-GB" altLang="en-US">
              <a:solidFill>
                <a:schemeClr val="tx1"/>
              </a:solidFill>
            </a:endParaRPr>
          </a:p>
          <a:p>
            <a:pPr marL="800100" lvl="1" indent="-342900">
              <a:buFont typeface="Wingdings" panose="05000000000000000000" pitchFamily="2" charset="2"/>
              <a:buChar char="§"/>
            </a:pPr>
            <a:r>
              <a:rPr lang="en-US" dirty="0">
                <a:solidFill>
                  <a:schemeClr val="tx1"/>
                </a:solidFill>
                <a:sym typeface="+mn-ea"/>
              </a:rPr>
              <a:t>DFD level 2</a:t>
            </a:r>
            <a:endParaRPr lang="en-GB" altLang="en-US">
              <a:solidFill>
                <a:schemeClr val="tx1"/>
              </a:solidFill>
            </a:endParaRPr>
          </a:p>
          <a:p>
            <a:pPr marL="800100" lvl="1" indent="-342900">
              <a:buFont typeface="Wingdings" panose="05000000000000000000" pitchFamily="2" charset="2"/>
              <a:buChar char="§"/>
            </a:pPr>
            <a:r>
              <a:rPr lang="en-US" dirty="0">
                <a:solidFill>
                  <a:schemeClr val="tx1"/>
                </a:solidFill>
                <a:sym typeface="+mn-ea"/>
              </a:rPr>
              <a:t>Component Diagram</a:t>
            </a:r>
            <a:endParaRPr lang="en-US" dirty="0">
              <a:solidFill>
                <a:schemeClr val="tx1"/>
              </a:solidFill>
              <a:sym typeface="+mn-ea"/>
            </a:endParaRPr>
          </a:p>
          <a:p>
            <a:pPr marL="800100" lvl="1" indent="-342900">
              <a:buFont typeface="Wingdings" panose="05000000000000000000" pitchFamily="2" charset="2"/>
              <a:buChar char="§"/>
            </a:pPr>
            <a:r>
              <a:rPr lang="en-US" dirty="0">
                <a:solidFill>
                  <a:schemeClr val="tx1"/>
                </a:solidFill>
                <a:sym typeface="+mn-ea"/>
              </a:rPr>
              <a:t>Deployment Diagram</a:t>
            </a:r>
            <a:endParaRPr lang="en-US" altLang="en-GB">
              <a:solidFill>
                <a:schemeClr val="tx1"/>
              </a:solidFill>
            </a:endParaRPr>
          </a:p>
          <a:p>
            <a:pPr marL="800100" lvl="1" indent="-342900">
              <a:buFont typeface="Wingdings" panose="05000000000000000000" pitchFamily="2" charset="2"/>
              <a:buChar char="§"/>
            </a:pPr>
            <a:r>
              <a:rPr lang="en-US" dirty="0">
                <a:solidFill>
                  <a:schemeClr val="tx1"/>
                </a:solidFill>
                <a:sym typeface="+mn-ea"/>
              </a:rPr>
              <a:t>Entity Relationship Diagram (ERD)</a:t>
            </a:r>
            <a:endParaRPr lang="en-US" dirty="0">
              <a:solidFill>
                <a:schemeClr val="tx1"/>
              </a:solidFill>
              <a:sym typeface="+mn-ea"/>
            </a:endParaRPr>
          </a:p>
          <a:p>
            <a:pPr marL="800100" lvl="1" indent="-342900">
              <a:buFont typeface="Wingdings" panose="05000000000000000000" pitchFamily="2" charset="2"/>
              <a:buChar char="§"/>
            </a:pPr>
            <a:r>
              <a:rPr lang="en-US" dirty="0">
                <a:solidFill>
                  <a:schemeClr val="tx1"/>
                </a:solidFill>
                <a:sym typeface="+mn-ea"/>
              </a:rPr>
              <a:t>Architecture Diagram</a:t>
            </a:r>
            <a:endParaRPr lang="en-GB" altLang="en-US">
              <a:solidFill>
                <a:schemeClr val="tx1"/>
              </a:solidFill>
            </a:endParaRPr>
          </a:p>
          <a:p>
            <a:pPr marL="800100" lvl="1" indent="-342900">
              <a:buFont typeface="Wingdings" panose="05000000000000000000" pitchFamily="2" charset="2"/>
              <a:buChar char="§"/>
            </a:pPr>
            <a:endParaRPr lang="en-US" b="1" dirty="0">
              <a:solidFill>
                <a:schemeClr val="accent1">
                  <a:lumMod val="60000"/>
                  <a:lumOff val="40000"/>
                </a:schemeClr>
              </a:solidFill>
            </a:endParaRPr>
          </a:p>
          <a:p>
            <a:pPr marL="457200" lvl="1" indent="0">
              <a:buFont typeface="Wingdings" panose="05000000000000000000" pitchFamily="2" charset="2"/>
              <a:buNone/>
            </a:pPr>
            <a:endParaRPr lang="en-US" b="0" i="0" u="none" strike="noStrike" baseline="0" dirty="0">
              <a:solidFill>
                <a:srgbClr val="000000"/>
              </a:solidFill>
              <a:latin typeface="+mj-lt"/>
            </a:endParaRPr>
          </a:p>
        </p:txBody>
      </p:sp>
      <p:pic>
        <p:nvPicPr>
          <p:cNvPr id="4" name="Content Placeholder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60000"/>
                    <a:lumOff val="40000"/>
                  </a:schemeClr>
                </a:solidFill>
              </a:rPr>
              <a:t>Project Vision</a:t>
            </a:r>
            <a:endParaRPr lang="en-US" b="1" dirty="0">
              <a:solidFill>
                <a:schemeClr val="accent1">
                  <a:lumMod val="60000"/>
                  <a:lumOff val="40000"/>
                </a:schemeClr>
              </a:solidFill>
            </a:endParaRPr>
          </a:p>
        </p:txBody>
      </p:sp>
      <p:sp>
        <p:nvSpPr>
          <p:cNvPr id="3" name="Content Placeholder 2"/>
          <p:cNvSpPr>
            <a:spLocks noGrp="1"/>
          </p:cNvSpPr>
          <p:nvPr>
            <p:ph idx="1"/>
          </p:nvPr>
        </p:nvSpPr>
        <p:spPr/>
        <p:txBody>
          <a:bodyPr>
            <a:normAutofit/>
          </a:bodyPr>
          <a:lstStyle/>
          <a:p>
            <a:pPr algn="just">
              <a:lnSpc>
                <a:spcPct val="50000"/>
              </a:lnSpc>
              <a:buFont typeface="Wingdings" panose="05000000000000000000" charset="0"/>
              <a:buChar char="§"/>
            </a:pPr>
            <a:r>
              <a:rPr lang="en-US" altLang="en-GB" dirty="0"/>
              <a:t>Scan car parts using phone camera.</a:t>
            </a:r>
            <a:endParaRPr lang="en-US" altLang="en-GB" dirty="0"/>
          </a:p>
          <a:p>
            <a:pPr algn="just">
              <a:lnSpc>
                <a:spcPct val="50000"/>
              </a:lnSpc>
              <a:buFont typeface="Wingdings" panose="05000000000000000000" charset="0"/>
              <a:buChar char="§"/>
            </a:pPr>
            <a:endParaRPr lang="en-US" altLang="en-GB" dirty="0"/>
          </a:p>
          <a:p>
            <a:pPr algn="just">
              <a:lnSpc>
                <a:spcPct val="50000"/>
              </a:lnSpc>
              <a:buFont typeface="Wingdings" panose="05000000000000000000" charset="0"/>
              <a:buChar char="§"/>
            </a:pPr>
            <a:r>
              <a:rPr lang="en-US" altLang="en-GB" dirty="0"/>
              <a:t>Identify components with cloud-based AI.</a:t>
            </a:r>
            <a:endParaRPr lang="en-US" altLang="en-GB" dirty="0"/>
          </a:p>
          <a:p>
            <a:pPr algn="just">
              <a:lnSpc>
                <a:spcPct val="50000"/>
              </a:lnSpc>
              <a:buFont typeface="Wingdings" panose="05000000000000000000" charset="0"/>
              <a:buChar char="§"/>
            </a:pPr>
            <a:endParaRPr lang="en-US" altLang="en-GB" dirty="0"/>
          </a:p>
          <a:p>
            <a:pPr algn="just">
              <a:lnSpc>
                <a:spcPct val="50000"/>
              </a:lnSpc>
              <a:buFont typeface="Wingdings" panose="05000000000000000000" charset="0"/>
              <a:buChar char="§"/>
            </a:pPr>
            <a:r>
              <a:rPr lang="en-US" altLang="en-GB" dirty="0"/>
              <a:t>Get smart recommendations for car modification.</a:t>
            </a:r>
            <a:endParaRPr lang="en-US" altLang="en-GB" dirty="0"/>
          </a:p>
          <a:p>
            <a:pPr algn="just">
              <a:lnSpc>
                <a:spcPct val="50000"/>
              </a:lnSpc>
              <a:buFont typeface="Wingdings" panose="05000000000000000000" charset="0"/>
              <a:buChar char="§"/>
            </a:pPr>
            <a:endParaRPr lang="en-US" altLang="en-GB" dirty="0"/>
          </a:p>
          <a:p>
            <a:pPr algn="just">
              <a:lnSpc>
                <a:spcPct val="50000"/>
              </a:lnSpc>
              <a:buFont typeface="Wingdings" panose="05000000000000000000" charset="0"/>
              <a:buChar char="§"/>
            </a:pPr>
            <a:r>
              <a:rPr lang="en-US" altLang="en-GB" dirty="0"/>
              <a:t>Connect with vendors under one roof.</a:t>
            </a:r>
            <a:endParaRPr lang="en-US" altLang="en-GB" dirty="0"/>
          </a:p>
          <a:p>
            <a:pPr algn="just">
              <a:lnSpc>
                <a:spcPct val="50000"/>
              </a:lnSpc>
              <a:buFont typeface="Wingdings" panose="05000000000000000000" charset="0"/>
              <a:buChar char="§"/>
            </a:pPr>
            <a:endParaRPr lang="en-US" altLang="en-GB" dirty="0"/>
          </a:p>
          <a:p>
            <a:pPr algn="just">
              <a:lnSpc>
                <a:spcPct val="50000"/>
              </a:lnSpc>
              <a:buFont typeface="Wingdings" panose="05000000000000000000" charset="0"/>
              <a:buChar char="§"/>
            </a:pPr>
            <a:r>
              <a:rPr lang="en-US" altLang="en-GB" dirty="0"/>
              <a:t>Browse real-time local parts inventory easily.</a:t>
            </a:r>
            <a:endParaRPr lang="en-US" altLang="en-GB" dirty="0"/>
          </a:p>
          <a:p>
            <a:pPr algn="just">
              <a:lnSpc>
                <a:spcPct val="50000"/>
              </a:lnSpc>
              <a:buFont typeface="Wingdings" panose="05000000000000000000" charset="0"/>
              <a:buChar char="§"/>
            </a:pPr>
            <a:endParaRPr lang="en-US" altLang="en-GB" dirty="0"/>
          </a:p>
          <a:p>
            <a:pPr algn="just">
              <a:lnSpc>
                <a:spcPct val="50000"/>
              </a:lnSpc>
              <a:buFont typeface="Wingdings" panose="05000000000000000000" charset="0"/>
              <a:buChar char="§"/>
            </a:pPr>
            <a:r>
              <a:rPr lang="en-US" altLang="en-GB" dirty="0"/>
              <a:t>Riders deliver orders to your doorstep.</a:t>
            </a:r>
            <a:endParaRPr lang="en-US" altLang="en-GB" dirty="0"/>
          </a:p>
        </p:txBody>
      </p:sp>
      <p:pic>
        <p:nvPicPr>
          <p:cNvPr id="4" name="Content Placeholder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60000"/>
                    <a:lumOff val="40000"/>
                  </a:schemeClr>
                </a:solidFill>
              </a:rPr>
              <a:t>Use Case Diagram</a:t>
            </a:r>
            <a:endParaRPr lang="en-US" b="1" dirty="0">
              <a:solidFill>
                <a:schemeClr val="accent1">
                  <a:lumMod val="60000"/>
                  <a:lumOff val="40000"/>
                </a:schemeClr>
              </a:solidFill>
            </a:endParaRPr>
          </a:p>
        </p:txBody>
      </p:sp>
      <p:pic>
        <p:nvPicPr>
          <p:cNvPr id="5" name="Content Placeholder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pic>
        <p:nvPicPr>
          <p:cNvPr id="1526342630"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6815" y="1310640"/>
            <a:ext cx="4464685" cy="53574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60000"/>
                    <a:lumOff val="40000"/>
                  </a:schemeClr>
                </a:solidFill>
              </a:rPr>
              <a:t>Activity Diagram</a:t>
            </a:r>
            <a:endParaRPr lang="en-US" b="1" dirty="0">
              <a:solidFill>
                <a:schemeClr val="accent1">
                  <a:lumMod val="60000"/>
                  <a:lumOff val="40000"/>
                </a:schemeClr>
              </a:solidFill>
            </a:endParaRPr>
          </a:p>
        </p:txBody>
      </p:sp>
      <p:pic>
        <p:nvPicPr>
          <p:cNvPr id="7" name="Content Placeholder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pic>
        <p:nvPicPr>
          <p:cNvPr id="9" name="Picture 8"/>
          <p:cNvPicPr/>
          <p:nvPr/>
        </p:nvPicPr>
        <p:blipFill>
          <a:blip r:embed="rId2"/>
          <a:stretch>
            <a:fillRect/>
          </a:stretch>
        </p:blipFill>
        <p:spPr>
          <a:xfrm>
            <a:off x="2576830" y="1374140"/>
            <a:ext cx="7230745" cy="52050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60000"/>
                    <a:lumOff val="40000"/>
                  </a:schemeClr>
                </a:solidFill>
              </a:rPr>
              <a:t>Sequence Diagram</a:t>
            </a:r>
            <a:endParaRPr lang="en-US" b="1" dirty="0">
              <a:solidFill>
                <a:schemeClr val="accent1">
                  <a:lumMod val="60000"/>
                  <a:lumOff val="40000"/>
                </a:schemeClr>
              </a:solidFill>
            </a:endParaRPr>
          </a:p>
        </p:txBody>
      </p:sp>
      <p:pic>
        <p:nvPicPr>
          <p:cNvPr id="6" name="Content Placeholder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pic>
        <p:nvPicPr>
          <p:cNvPr id="7" name="Picture 6" descr="Sequence diagram"/>
          <p:cNvPicPr>
            <a:picLocks noChangeAspect="1"/>
          </p:cNvPicPr>
          <p:nvPr/>
        </p:nvPicPr>
        <p:blipFill>
          <a:blip r:embed="rId2"/>
          <a:stretch>
            <a:fillRect/>
          </a:stretch>
        </p:blipFill>
        <p:spPr>
          <a:xfrm>
            <a:off x="2926080" y="1259205"/>
            <a:ext cx="5847715" cy="53536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60000"/>
                    <a:lumOff val="40000"/>
                  </a:schemeClr>
                </a:solidFill>
              </a:rPr>
              <a:t>Class Diagram</a:t>
            </a:r>
            <a:endParaRPr lang="en-US" b="1" dirty="0">
              <a:solidFill>
                <a:schemeClr val="accent1">
                  <a:lumMod val="60000"/>
                  <a:lumOff val="40000"/>
                </a:schemeClr>
              </a:solidFill>
            </a:endParaRPr>
          </a:p>
        </p:txBody>
      </p:sp>
      <p:pic>
        <p:nvPicPr>
          <p:cNvPr id="6" name="Content Placeholder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pic>
        <p:nvPicPr>
          <p:cNvPr id="4" name="Content Placeholder 3" descr="class diagram"/>
          <p:cNvPicPr>
            <a:picLocks noChangeAspect="1"/>
          </p:cNvPicPr>
          <p:nvPr>
            <p:ph idx="1"/>
          </p:nvPr>
        </p:nvPicPr>
        <p:blipFill>
          <a:blip r:embed="rId2"/>
          <a:stretch>
            <a:fillRect/>
          </a:stretch>
        </p:blipFill>
        <p:spPr>
          <a:xfrm>
            <a:off x="2463165" y="1449705"/>
            <a:ext cx="7209155" cy="50641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1">
                    <a:lumMod val="60000"/>
                    <a:lumOff val="40000"/>
                  </a:schemeClr>
                </a:solidFill>
                <a:sym typeface="+mn-ea"/>
              </a:rPr>
              <a:t>DFD level 0 </a:t>
            </a:r>
            <a:endParaRPr lang="en-GB" altLang="en-US"/>
          </a:p>
        </p:txBody>
      </p:sp>
      <p:pic>
        <p:nvPicPr>
          <p:cNvPr id="4" name="Content Placeholder 3" descr="DFD_0"/>
          <p:cNvPicPr>
            <a:picLocks noChangeAspect="1"/>
          </p:cNvPicPr>
          <p:nvPr>
            <p:ph idx="1"/>
          </p:nvPr>
        </p:nvPicPr>
        <p:blipFill>
          <a:blip r:embed="rId1"/>
          <a:stretch>
            <a:fillRect/>
          </a:stretch>
        </p:blipFill>
        <p:spPr>
          <a:xfrm>
            <a:off x="1565910" y="2291715"/>
            <a:ext cx="9262110" cy="2868295"/>
          </a:xfrm>
          <a:prstGeom prst="rect">
            <a:avLst/>
          </a:prstGeom>
        </p:spPr>
      </p:pic>
      <p:pic>
        <p:nvPicPr>
          <p:cNvPr id="6" name="Content Placeholder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1">
                    <a:lumMod val="60000"/>
                    <a:lumOff val="40000"/>
                  </a:schemeClr>
                </a:solidFill>
                <a:sym typeface="+mn-ea"/>
              </a:rPr>
              <a:t>DFD level 1</a:t>
            </a:r>
            <a:endParaRPr lang="en-GB" altLang="en-US"/>
          </a:p>
        </p:txBody>
      </p:sp>
      <p:pic>
        <p:nvPicPr>
          <p:cNvPr id="4" name="Content Placeholder 3" descr="DFD_1"/>
          <p:cNvPicPr>
            <a:picLocks noChangeAspect="1"/>
          </p:cNvPicPr>
          <p:nvPr>
            <p:ph idx="1"/>
          </p:nvPr>
        </p:nvPicPr>
        <p:blipFill>
          <a:blip r:embed="rId1"/>
          <a:stretch>
            <a:fillRect/>
          </a:stretch>
        </p:blipFill>
        <p:spPr>
          <a:xfrm>
            <a:off x="2679700" y="1202690"/>
            <a:ext cx="6189980" cy="5563870"/>
          </a:xfrm>
          <a:prstGeom prst="rect">
            <a:avLst/>
          </a:prstGeom>
        </p:spPr>
      </p:pic>
      <p:pic>
        <p:nvPicPr>
          <p:cNvPr id="6" name="Content Placeholder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1">
                    <a:lumMod val="60000"/>
                    <a:lumOff val="40000"/>
                  </a:schemeClr>
                </a:solidFill>
                <a:sym typeface="+mn-ea"/>
              </a:rPr>
              <a:t>DFD level 2</a:t>
            </a:r>
            <a:endParaRPr lang="en-GB" altLang="en-US"/>
          </a:p>
        </p:txBody>
      </p:sp>
      <p:pic>
        <p:nvPicPr>
          <p:cNvPr id="5" name="Content Placeholder 4" descr="level2"/>
          <p:cNvPicPr>
            <a:picLocks noChangeAspect="1"/>
          </p:cNvPicPr>
          <p:nvPr>
            <p:ph idx="1"/>
          </p:nvPr>
        </p:nvPicPr>
        <p:blipFill>
          <a:blip r:embed="rId1"/>
          <a:stretch>
            <a:fillRect/>
          </a:stretch>
        </p:blipFill>
        <p:spPr>
          <a:xfrm>
            <a:off x="3086100" y="1307465"/>
            <a:ext cx="5733415" cy="5263515"/>
          </a:xfrm>
          <a:prstGeom prst="rect">
            <a:avLst/>
          </a:prstGeom>
        </p:spPr>
      </p:pic>
      <p:pic>
        <p:nvPicPr>
          <p:cNvPr id="6" name="Content Placeholder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1">
                    <a:lumMod val="60000"/>
                    <a:lumOff val="40000"/>
                  </a:schemeClr>
                </a:solidFill>
                <a:sym typeface="+mn-ea"/>
              </a:rPr>
              <a:t>Component Diagram</a:t>
            </a:r>
            <a:endParaRPr lang="en-US" altLang="en-GB"/>
          </a:p>
        </p:txBody>
      </p:sp>
      <p:pic>
        <p:nvPicPr>
          <p:cNvPr id="4" name="Content Placeholder 3" descr="component_digram"/>
          <p:cNvPicPr>
            <a:picLocks noChangeAspect="1"/>
          </p:cNvPicPr>
          <p:nvPr>
            <p:ph idx="1"/>
          </p:nvPr>
        </p:nvPicPr>
        <p:blipFill>
          <a:blip r:embed="rId1"/>
          <a:stretch>
            <a:fillRect/>
          </a:stretch>
        </p:blipFill>
        <p:spPr>
          <a:xfrm>
            <a:off x="3065780" y="1567815"/>
            <a:ext cx="5969635" cy="5049520"/>
          </a:xfrm>
          <a:prstGeom prst="rect">
            <a:avLst/>
          </a:prstGeom>
        </p:spPr>
      </p:pic>
      <p:pic>
        <p:nvPicPr>
          <p:cNvPr id="6" name="Content Placeholder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b="1" dirty="0">
                <a:solidFill>
                  <a:schemeClr val="accent1">
                    <a:lumMod val="60000"/>
                    <a:lumOff val="40000"/>
                  </a:schemeClr>
                </a:solidFill>
                <a:sym typeface="+mn-ea"/>
              </a:rPr>
              <a:t>Deployment Diagram</a:t>
            </a:r>
            <a:endParaRPr lang="en-US" altLang="en-GB"/>
          </a:p>
        </p:txBody>
      </p:sp>
      <p:pic>
        <p:nvPicPr>
          <p:cNvPr id="4" name="Content Placeholder 3" descr="Deployment"/>
          <p:cNvPicPr>
            <a:picLocks noChangeAspect="1"/>
          </p:cNvPicPr>
          <p:nvPr>
            <p:ph idx="1"/>
          </p:nvPr>
        </p:nvPicPr>
        <p:blipFill>
          <a:blip r:embed="rId1"/>
          <a:srcRect b="25219"/>
          <a:stretch>
            <a:fillRect/>
          </a:stretch>
        </p:blipFill>
        <p:spPr>
          <a:xfrm>
            <a:off x="2451100" y="1581150"/>
            <a:ext cx="7730490" cy="4592955"/>
          </a:xfrm>
          <a:prstGeom prst="rect">
            <a:avLst/>
          </a:prstGeom>
        </p:spPr>
      </p:pic>
      <p:pic>
        <p:nvPicPr>
          <p:cNvPr id="6" name="Content Placeholder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60000"/>
                    <a:lumOff val="40000"/>
                  </a:schemeClr>
                </a:solidFill>
              </a:rPr>
              <a:t>Entity Relationship Diagram (ERD)</a:t>
            </a:r>
            <a:endParaRPr lang="en-US" b="1" dirty="0">
              <a:solidFill>
                <a:schemeClr val="accent1">
                  <a:lumMod val="60000"/>
                  <a:lumOff val="40000"/>
                </a:schemeClr>
              </a:solidFill>
            </a:endParaRPr>
          </a:p>
        </p:txBody>
      </p:sp>
      <p:pic>
        <p:nvPicPr>
          <p:cNvPr id="5" name="Content Placeholder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pic>
        <p:nvPicPr>
          <p:cNvPr id="11" name="Picture 10" descr="erd (2)"/>
          <p:cNvPicPr>
            <a:picLocks noChangeAspect="1"/>
          </p:cNvPicPr>
          <p:nvPr/>
        </p:nvPicPr>
        <p:blipFill>
          <a:blip r:embed="rId2"/>
          <a:stretch>
            <a:fillRect/>
          </a:stretch>
        </p:blipFill>
        <p:spPr>
          <a:xfrm>
            <a:off x="4121785" y="1322705"/>
            <a:ext cx="4137660" cy="53955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1">
                    <a:lumMod val="60000"/>
                    <a:lumOff val="40000"/>
                  </a:schemeClr>
                </a:solidFill>
                <a:sym typeface="+mn-ea"/>
              </a:rPr>
              <a:t>Architecture Diagram</a:t>
            </a:r>
            <a:endParaRPr lang="en-GB" altLang="en-US"/>
          </a:p>
        </p:txBody>
      </p:sp>
      <p:pic>
        <p:nvPicPr>
          <p:cNvPr id="4" name="Content Placeholder 3" descr="high level for mid evaluation"/>
          <p:cNvPicPr>
            <a:picLocks noChangeAspect="1"/>
          </p:cNvPicPr>
          <p:nvPr>
            <p:ph idx="1"/>
          </p:nvPr>
        </p:nvPicPr>
        <p:blipFill>
          <a:blip r:embed="rId1"/>
          <a:stretch>
            <a:fillRect/>
          </a:stretch>
        </p:blipFill>
        <p:spPr>
          <a:xfrm>
            <a:off x="2693670" y="1160780"/>
            <a:ext cx="6804660" cy="5363210"/>
          </a:xfrm>
          <a:prstGeom prst="rect">
            <a:avLst/>
          </a:prstGeom>
        </p:spPr>
      </p:pic>
      <p:pic>
        <p:nvPicPr>
          <p:cNvPr id="5" name="Content Placeholder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8"/>
            <a:ext cx="10515600" cy="1325563"/>
          </a:xfrm>
        </p:spPr>
        <p:txBody>
          <a:bodyPr>
            <a:normAutofit/>
          </a:bodyPr>
          <a:lstStyle/>
          <a:p>
            <a:pPr algn="ctr"/>
            <a:r>
              <a:rPr lang="en-US" sz="5400" b="1" dirty="0">
                <a:solidFill>
                  <a:schemeClr val="accent1">
                    <a:lumMod val="60000"/>
                    <a:lumOff val="40000"/>
                  </a:schemeClr>
                </a:solidFill>
              </a:rPr>
              <a:t>Thank You!</a:t>
            </a:r>
            <a:endParaRPr lang="en-US" sz="5400" b="1" dirty="0">
              <a:solidFill>
                <a:schemeClr val="accent1">
                  <a:lumMod val="60000"/>
                  <a:lumOff val="40000"/>
                </a:schemeClr>
              </a:solidFill>
            </a:endParaRPr>
          </a:p>
        </p:txBody>
      </p:sp>
      <p:pic>
        <p:nvPicPr>
          <p:cNvPr id="4" name="Content Placeholder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1285</Words>
  <Application>WPS Presentation</Application>
  <PresentationFormat>Widescreen</PresentationFormat>
  <Paragraphs>71</Paragraphs>
  <Slides>17</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17</vt:i4>
      </vt:variant>
    </vt:vector>
  </HeadingPairs>
  <TitlesOfParts>
    <vt:vector size="32" baseType="lpstr">
      <vt:lpstr>Arial</vt:lpstr>
      <vt:lpstr>SimSun</vt:lpstr>
      <vt:lpstr>Wingdings</vt:lpstr>
      <vt:lpstr>Times New Roman</vt:lpstr>
      <vt:lpstr>Aptos Display</vt:lpstr>
      <vt:lpstr>Segoe UI Variable Display</vt:lpstr>
      <vt:lpstr>Aptos</vt:lpstr>
      <vt:lpstr>Segoe UI</vt:lpstr>
      <vt:lpstr>Microsoft YaHei</vt:lpstr>
      <vt:lpstr>Arial Unicode MS</vt:lpstr>
      <vt:lpstr>Calibri</vt:lpstr>
      <vt:lpstr>Wingdings</vt:lpstr>
      <vt:lpstr>monospace</vt:lpstr>
      <vt:lpstr>Segoe Print</vt:lpstr>
      <vt:lpstr>Office Theme</vt:lpstr>
      <vt:lpstr>Proposal Defense</vt:lpstr>
      <vt:lpstr>PowerPoint 演示文稿</vt:lpstr>
      <vt:lpstr>Introduction</vt:lpstr>
      <vt:lpstr> Outline (FYP Report v 1.0)</vt:lpstr>
      <vt:lpstr>Project Vision</vt:lpstr>
      <vt:lpstr>Use Case Diagram</vt:lpstr>
      <vt:lpstr>Activity Diagrams</vt:lpstr>
      <vt:lpstr>Sequence Diagram</vt:lpstr>
      <vt:lpstr>Class Diagram</vt:lpstr>
      <vt:lpstr>PowerPoint 演示文稿</vt:lpstr>
      <vt:lpstr>PowerPoint 演示文稿</vt:lpstr>
      <vt:lpstr>PowerPoint 演示文稿</vt:lpstr>
      <vt:lpstr>PowerPoint 演示文稿</vt:lpstr>
      <vt:lpstr>PowerPoint 演示文稿</vt:lpstr>
      <vt:lpstr>Entity Relationship Diagram (ERD)</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Qaim Ali</dc:creator>
  <cp:lastModifiedBy>Sardar Sameer</cp:lastModifiedBy>
  <cp:revision>26</cp:revision>
  <dcterms:created xsi:type="dcterms:W3CDTF">2025-10-29T12:51:00Z</dcterms:created>
  <dcterms:modified xsi:type="dcterms:W3CDTF">2026-03-18T03:23:33Z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EBD977FE2FDA49A28AA8C6E130CF5CD1_13</vt:lpwstr>
  </property>
  <property fmtid="{D5CDD505-2E9C-101B-9397-08002B2CF9AE}" pid="3" name="KSOProductBuildVer">
    <vt:lpwstr>2057-12.2.0.23196</vt:lpwstr>
  </property>
</Properties>
</file>