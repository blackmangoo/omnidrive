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70" r:id="rId3"/>
    <p:sldId id="258" r:id="rId4"/>
    <p:sldId id="283" r:id="rId5"/>
    <p:sldId id="272" r:id="rId6"/>
    <p:sldId id="273" r:id="rId7"/>
    <p:sldId id="275" r:id="rId8"/>
    <p:sldId id="274" r:id="rId9"/>
    <p:sldId id="276" r:id="rId10"/>
    <p:sldId id="277" r:id="rId11"/>
    <p:sldId id="278" r:id="rId12"/>
    <p:sldId id="280" r:id="rId13"/>
    <p:sldId id="279" r:id="rId14"/>
    <p:sldId id="287" r:id="rId15"/>
    <p:sldId id="28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5" d="100"/>
          <a:sy n="65" d="100"/>
        </p:scale>
        <p:origin x="912" y="78"/>
      </p:cViewPr>
      <p:guideLst>
        <p:guide orient="horz" pos="2160"/>
        <p:guide pos="38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P1-P1-S-20-01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C07EB-4237-4689-BCEC-FD229CC771D1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Project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0E158-A96C-43C6-AFDA-24EFFE696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P1-P1-S-20-01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19EB05-2993-4ED6-B183-9B70D1358DF2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6FEFBD-D254-4142-B3DF-3182BB9EBA1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6FEFBD-D254-4142-B3DF-3182BB9EBA19}" type="slidenum">
              <a:rPr lang="en-US" smtClean="0"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P1-P1-S-20-01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fld id="{06699198-3357-4EF9-B937-D1C625DCCF6C}" type="datetime1">
              <a:rPr lang="en-US" smtClean="0"/>
              <a:t>2/3/2026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P1-P1-S-20-01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09A9DB4D-DA56-4B2F-B2F4-9EBBA2A76FFA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86FEFBD-D254-4142-B3DF-3182BB9EBA1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P1-P1-S-20-01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09A9DB4D-DA56-4B2F-B2F4-9EBBA2A76FFA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86FEFBD-D254-4142-B3DF-3182BB9EBA1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P1-P1-S-20-01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09A9DB4D-DA56-4B2F-B2F4-9EBBA2A76FFA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86FEFBD-D254-4142-B3DF-3182BB9EBA1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P1-P1-S-20-01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09A9DB4D-DA56-4B2F-B2F4-9EBBA2A76FFA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86FEFBD-D254-4142-B3DF-3182BB9EBA1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P1-P1-S-20-01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09A9DB4D-DA56-4B2F-B2F4-9EBBA2A76FFA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86FEFBD-D254-4142-B3DF-3182BB9EBA1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P1-P1-S-20-01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09A9DB4D-DA56-4B2F-B2F4-9EBBA2A76FFA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86FEFBD-D254-4142-B3DF-3182BB9EBA1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P1-P1-S-20-01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09A9DB4D-DA56-4B2F-B2F4-9EBBA2A76FFA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86FEFBD-D254-4142-B3DF-3182BB9EBA1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P1-P1-S-20-01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09A9DB4D-DA56-4B2F-B2F4-9EBBA2A76FFA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86FEFBD-D254-4142-B3DF-3182BB9EBA1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P1-P1-S-20-01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09A9DB4D-DA56-4B2F-B2F4-9EBBA2A76FFA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86FEFBD-D254-4142-B3DF-3182BB9EBA1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P1-P1-S-20-01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09A9DB4D-DA56-4B2F-B2F4-9EBBA2A76FFA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86FEFBD-D254-4142-B3DF-3182BB9EBA1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P1-P1-S-20-01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09A9DB4D-DA56-4B2F-B2F4-9EBBA2A76FFA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86FEFBD-D254-4142-B3DF-3182BB9EBA1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D0587-63E4-ECBC-9C8F-8AE36F76B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586287-BDFD-639C-9CB0-55BF35A99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8D4F5-DFEB-8217-ED2F-125AA3F17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C5EE2F0-E7C7-9998-58B0-12001F963216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P1-P1-S-20-01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6B290-496D-3028-1A6F-A1216F89C2F7}"/>
              </a:ext>
            </a:extLst>
          </p:cNvPr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09A9DB4D-DA56-4B2F-B2F4-9EBBA2A76FFA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01C0AD-BFF6-C70B-94A2-52245E2C122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Project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70954-9CFB-F0A0-C93B-74165246007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86FEFBD-D254-4142-B3DF-3182BB9EBA1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01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DF904-A76C-4547-AD6B-2EC0D34E110C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Code(P1-P1-S-20-01) 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0D4D4-4AB5-4530-88B4-CEEB0D6B6974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Code(P1-P1-S-20-01) 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C4556-2C53-400A-B52E-CFE8A5B7D4C2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Code(P1-P1-S-20-01) 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BBA09-33CF-402E-BB8A-941BE1CEAAFB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Code(P1-P1-S-20-01) 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31203-6E24-49C4-A73D-322126FB9AA3}" type="datetime1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Code(P1-P1-S-20-01) Project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97CB8-69DB-415F-B70B-584E1D4B5382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Code(P1-P1-S-20-01) Project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C84DA-0940-4731-8877-87A550E45FEE}" type="datetime1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Code(P1-P1-S-20-01) Project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16400-5575-480E-B7EF-9E88528ECCC8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Code(P1-P1-S-20-01) 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64A7A-48D0-4476-83B1-1F1233CA3DDC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Code(P1-P1-S-20-01) Project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D0B3-335B-4B8A-8743-E10436674414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Code(P1-P1-S-20-01) 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584F2-939B-4AA9-B34B-CEA038FA78A9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Your Project Code(P1-P1-S-20-01) 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26B10-3FB8-4C7E-957B-87D304575392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Your Project Code(P1-P1-S-20-01) Project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64944-C185-42A3-B9E2-0C66306C082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556703"/>
            <a:ext cx="9144000" cy="2387600"/>
          </a:xfrm>
        </p:spPr>
        <p:txBody>
          <a:bodyPr/>
          <a:lstStyle/>
          <a:p>
            <a:br>
              <a:rPr lang="en-US" altLang="en-US" u="sng" dirty="0"/>
            </a:br>
            <a:endParaRPr lang="en-US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05860"/>
            <a:ext cx="9144000" cy="245554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156082">
                    <a:lumMod val="60000"/>
                    <a:lumOff val="40000"/>
                  </a:srgbClr>
                </a:solidFill>
                <a:latin typeface="Aptos" charset="0"/>
                <a:ea typeface="+mn-ea"/>
                <a:cs typeface="+mn-ea"/>
                <a:sym typeface="+mn-ea"/>
              </a:rPr>
              <a:t>Team</a:t>
            </a:r>
          </a:p>
          <a:p>
            <a:r>
              <a:rPr lang="en-US" dirty="0"/>
              <a:t>22F-3102 Ammar Akbar</a:t>
            </a:r>
          </a:p>
          <a:p>
            <a:r>
              <a:rPr lang="en-US" dirty="0"/>
              <a:t>22F-3162 Sameer Khan </a:t>
            </a:r>
          </a:p>
          <a:p>
            <a:r>
              <a:rPr lang="en-US" dirty="0"/>
              <a:t>22F-3101 Murtaza Mehdi </a:t>
            </a:r>
          </a:p>
          <a:p>
            <a:endParaRPr lang="en-US" sz="3200" b="1" u="sng" dirty="0">
              <a:solidFill>
                <a:schemeClr val="accent1"/>
              </a:solidFill>
            </a:endParaRPr>
          </a:p>
        </p:txBody>
      </p:sp>
      <p:pic>
        <p:nvPicPr>
          <p:cNvPr id="5" name="Content Placeholder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295" y="171362"/>
            <a:ext cx="1385664" cy="1385664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4"/>
          <a:stretch>
            <a:fillRect/>
          </a:stretch>
        </p:blipFill>
        <p:spPr>
          <a:xfrm>
            <a:off x="4027805" y="981710"/>
            <a:ext cx="4136390" cy="79438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5"/>
          <a:stretch>
            <a:fillRect/>
          </a:stretch>
        </p:blipFill>
        <p:spPr>
          <a:xfrm>
            <a:off x="4027805" y="1426210"/>
            <a:ext cx="4136390" cy="2068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2</a:t>
            </a:fld>
            <a:endParaRPr lang="en-US"/>
          </a:p>
        </p:txBody>
      </p:sp>
      <p:pic>
        <p:nvPicPr>
          <p:cNvPr id="5" name="Content Placeholder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1168" y="141923"/>
            <a:ext cx="1385887" cy="1385887"/>
          </a:xfrm>
          <a:prstGeom prst="rect">
            <a:avLst/>
          </a:prstGeom>
        </p:spPr>
      </p:pic>
      <p:sp>
        <p:nvSpPr>
          <p:cNvPr id="10" name="Content Placeholder 8"/>
          <p:cNvSpPr>
            <a:spLocks noGrp="1"/>
          </p:cNvSpPr>
          <p:nvPr>
            <p:ph sz="half" idx="1"/>
          </p:nvPr>
        </p:nvSpPr>
        <p:spPr>
          <a:xfrm>
            <a:off x="93345" y="1076960"/>
            <a:ext cx="11903710" cy="578104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sz="3600" b="1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156082">
                    <a:lumMod val="60000"/>
                    <a:lumOff val="40000"/>
                  </a:srgbClr>
                </a:solidFill>
                <a:latin typeface="Aptos" charset="0"/>
                <a:cs typeface="+mn-ea"/>
                <a:sym typeface="+mn-ea"/>
              </a:rPr>
              <a:t>Project Title:</a:t>
            </a:r>
            <a:endParaRPr lang="en-US" sz="3600" b="1" dirty="0">
              <a:solidFill>
                <a:srgbClr val="156082">
                  <a:lumMod val="60000"/>
                  <a:lumOff val="40000"/>
                </a:srgbClr>
              </a:solidFill>
              <a:latin typeface="Aptos" charset="0"/>
              <a:ea typeface="+mn-ea"/>
              <a:cs typeface="+mn-ea"/>
              <a:sym typeface="+mn-ea"/>
            </a:endParaRPr>
          </a:p>
          <a:p>
            <a:pPr marL="0" indent="0" algn="ctr">
              <a:buNone/>
            </a:pPr>
            <a:r>
              <a:rPr lang="en-US" altLang="en-US" sz="3600" dirty="0">
                <a:sym typeface="+mn-ea"/>
              </a:rPr>
              <a:t>Unified Intelligent Ecosystem for Automotive Enthusiasts</a:t>
            </a:r>
          </a:p>
          <a:p>
            <a:pPr marL="0" indent="0" algn="ctr">
              <a:buNone/>
            </a:pPr>
            <a:endParaRPr lang="en-US" alt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156082">
                    <a:lumMod val="60000"/>
                    <a:lumOff val="40000"/>
                  </a:srgbClr>
                </a:solidFill>
                <a:latin typeface="Aptos" charset="0"/>
                <a:ea typeface="+mn-ea"/>
                <a:cs typeface="+mn-ea"/>
                <a:sym typeface="+mn-ea"/>
              </a:rPr>
              <a:t>Supervisor(s):</a:t>
            </a:r>
            <a:endParaRPr lang="en-US" sz="3600" b="1" dirty="0">
              <a:solidFill>
                <a:srgbClr val="156082">
                  <a:lumMod val="60000"/>
                  <a:lumOff val="40000"/>
                </a:srgbClr>
              </a:solidFill>
            </a:endParaRPr>
          </a:p>
          <a:p>
            <a:pPr marL="0" indent="0" algn="ctr">
              <a:buNone/>
            </a:pPr>
            <a:r>
              <a:rPr lang="en-US" sz="3600" dirty="0">
                <a:solidFill>
                  <a:sysClr val="windowText" lastClr="000000"/>
                </a:solidFill>
                <a:latin typeface="Aptos" charset="0"/>
                <a:ea typeface="+mn-ea"/>
                <a:cs typeface="+mn-ea"/>
                <a:sym typeface="+mn-ea"/>
              </a:rPr>
              <a:t>Ms</a:t>
            </a:r>
            <a:r>
              <a:rPr lang="en-US" sz="3600" dirty="0">
                <a:solidFill>
                  <a:schemeClr val="tx1"/>
                </a:solidFill>
                <a:latin typeface="Aptos" charset="0"/>
                <a:ea typeface="+mn-ea"/>
                <a:cs typeface="+mn-ea"/>
                <a:sym typeface="+mn-ea"/>
              </a:rPr>
              <a:t>. </a:t>
            </a:r>
            <a:r>
              <a:rPr lang="en-US" altLang="en-US" sz="3600" dirty="0">
                <a:solidFill>
                  <a:schemeClr val="tx1"/>
                </a:solidFill>
                <a:latin typeface="Aptos" charset="0"/>
                <a:ea typeface="+mn-ea"/>
                <a:cs typeface="+mn-ea"/>
                <a:sym typeface="+mn-ea"/>
              </a:rPr>
              <a:t>Juhinah Batool Asif</a:t>
            </a:r>
            <a:endParaRPr lang="en-US" altLang="en-US" sz="3600" b="1" dirty="0">
              <a:solidFill>
                <a:srgbClr val="156082">
                  <a:lumMod val="60000"/>
                  <a:lumOff val="40000"/>
                </a:srgbClr>
              </a:solidFill>
              <a:latin typeface="Aptos" charset="0"/>
              <a:ea typeface="+mn-ea"/>
              <a:cs typeface="+mn-ea"/>
              <a:sym typeface="+mn-ea"/>
            </a:endParaRPr>
          </a:p>
          <a:p>
            <a:pPr marL="0" indent="0" algn="ctr">
              <a:buNone/>
            </a:pPr>
            <a:endParaRPr lang="en-US" alt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5445" y="365125"/>
            <a:ext cx="895291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156082">
                    <a:lumMod val="60000"/>
                    <a:lumOff val="40000"/>
                  </a:srgbClr>
                </a:solidFill>
                <a:latin typeface="Aptos Display" charset="0"/>
                <a:ea typeface="+mn-ea"/>
                <a:cs typeface="+mn-ea"/>
                <a:sym typeface="+mn-ea"/>
              </a:rPr>
              <a:t>Outline</a:t>
            </a:r>
            <a:endParaRPr lang="en-US" b="1" u="sng" dirty="0">
              <a:solidFill>
                <a:srgbClr val="156082">
                  <a:lumMod val="60000"/>
                  <a:lumOff val="40000"/>
                </a:srgbClr>
              </a:solidFill>
              <a:latin typeface="Aptos Display" charset="0"/>
              <a:ea typeface="+mn-ea"/>
              <a:cs typeface="+mn-ea"/>
              <a:sym typeface="+mn-ea"/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9190" y="134486"/>
            <a:ext cx="1385664" cy="1385664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85800" y="1083945"/>
            <a:ext cx="10668000" cy="56375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1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  <a:p>
            <a:pPr marL="742950" lvl="1" indent="-285750" algn="l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Aptos" charset="0"/>
                <a:ea typeface="+mn-ea"/>
                <a:cs typeface="Times New Roman" panose="02020603050405020304" pitchFamily="18" charset="0"/>
                <a:sym typeface="+mn-ea"/>
              </a:rPr>
              <a:t>Problem Statement</a:t>
            </a:r>
            <a:endParaRPr lang="en-US" dirty="0">
              <a:solidFill>
                <a:srgbClr val="000000"/>
              </a:solidFill>
              <a:latin typeface="Aptos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Aptos" charset="0"/>
                <a:ea typeface="+mn-ea"/>
                <a:cs typeface="Times New Roman" panose="02020603050405020304" pitchFamily="18" charset="0"/>
                <a:sym typeface="+mn-ea"/>
              </a:rPr>
              <a:t>Motivation</a:t>
            </a:r>
            <a:endParaRPr lang="en-US" dirty="0">
              <a:solidFill>
                <a:srgbClr val="000000"/>
              </a:solidFill>
              <a:latin typeface="Aptos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Aptos" charset="0"/>
                <a:ea typeface="+mn-ea"/>
                <a:cs typeface="Times New Roman" panose="02020603050405020304" pitchFamily="18" charset="0"/>
                <a:sym typeface="+mn-ea"/>
              </a:rPr>
              <a:t>Expected Outcome</a:t>
            </a:r>
          </a:p>
          <a:p>
            <a:pPr marL="742950" lvl="1" indent="-285750" algn="l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Aptos" charset="0"/>
                <a:ea typeface="+mn-ea"/>
                <a:cs typeface="Times New Roman" panose="02020603050405020304" pitchFamily="18" charset="0"/>
                <a:sym typeface="+mn-ea"/>
              </a:rPr>
              <a:t>Benefits</a:t>
            </a:r>
            <a:endParaRPr lang="en-US" dirty="0">
              <a:solidFill>
                <a:srgbClr val="000000"/>
              </a:solidFill>
              <a:latin typeface="Aptos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Aptos" charset="0"/>
                <a:ea typeface="+mn-ea"/>
                <a:cs typeface="Times New Roman" panose="02020603050405020304" pitchFamily="18" charset="0"/>
                <a:sym typeface="+mn-ea"/>
              </a:rPr>
              <a:t>Impact of Software</a:t>
            </a:r>
            <a:endParaRPr lang="en-US" dirty="0">
              <a:solidFill>
                <a:srgbClr val="000000"/>
              </a:solidFill>
              <a:latin typeface="Aptos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Aptos" charset="0"/>
                <a:ea typeface="+mn-ea"/>
                <a:cs typeface="Times New Roman" panose="02020603050405020304" pitchFamily="18" charset="0"/>
                <a:sym typeface="+mn-ea"/>
              </a:rPr>
              <a:t>Type of Project: Development</a:t>
            </a:r>
            <a:endParaRPr lang="en-US" dirty="0">
              <a:solidFill>
                <a:srgbClr val="000000"/>
              </a:solidFill>
              <a:latin typeface="Aptos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Aptos" charset="0"/>
                <a:ea typeface="+mn-ea"/>
                <a:cs typeface="Times New Roman" panose="02020603050405020304" pitchFamily="18" charset="0"/>
                <a:sym typeface="+mn-ea"/>
              </a:rPr>
              <a:t>Project Scope</a:t>
            </a:r>
            <a:endParaRPr lang="en-US" dirty="0">
              <a:solidFill>
                <a:srgbClr val="000000"/>
              </a:solidFill>
              <a:latin typeface="Aptos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Aptos" charset="0"/>
                <a:ea typeface="+mn-ea"/>
                <a:cs typeface="Times New Roman" panose="02020603050405020304" pitchFamily="18" charset="0"/>
                <a:sym typeface="+mn-ea"/>
              </a:rPr>
              <a:t>High Level Features	</a:t>
            </a:r>
            <a:endParaRPr lang="en-US" dirty="0">
              <a:solidFill>
                <a:srgbClr val="000000"/>
              </a:solidFill>
              <a:latin typeface="Aptos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Aptos" charset="0"/>
                <a:ea typeface="+mn-ea"/>
                <a:cs typeface="Times New Roman" panose="02020603050405020304" pitchFamily="18" charset="0"/>
                <a:sym typeface="+mn-ea"/>
              </a:rPr>
              <a:t>Related Projects	</a:t>
            </a:r>
            <a:endParaRPr lang="en-US" dirty="0">
              <a:solidFill>
                <a:srgbClr val="000000"/>
              </a:solidFill>
              <a:latin typeface="Aptos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Aptos" charset="0"/>
                <a:ea typeface="+mn-ea"/>
                <a:cs typeface="Times New Roman" panose="02020603050405020304" pitchFamily="18" charset="0"/>
                <a:sym typeface="+mn-ea"/>
              </a:rPr>
              <a:t>High Level System Diagram	</a:t>
            </a:r>
            <a:endParaRPr lang="en-US" dirty="0">
              <a:solidFill>
                <a:srgbClr val="000000"/>
              </a:solidFill>
              <a:latin typeface="Aptos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Aptos" charset="0"/>
                <a:ea typeface="+mn-ea"/>
                <a:cs typeface="Times New Roman" panose="02020603050405020304" pitchFamily="18" charset="0"/>
                <a:sym typeface="+mn-ea"/>
              </a:rPr>
              <a:t>Tools/Technologies/Environment</a:t>
            </a:r>
            <a:endParaRPr lang="en-US" dirty="0">
              <a:solidFill>
                <a:srgbClr val="000000"/>
              </a:solidFill>
              <a:latin typeface="Aptos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Aptos" charset="0"/>
                <a:ea typeface="+mn-ea"/>
                <a:cs typeface="Times New Roman" panose="02020603050405020304" pitchFamily="18" charset="0"/>
                <a:sym typeface="+mn-ea"/>
              </a:rPr>
              <a:t>References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4345" y="365125"/>
            <a:ext cx="895291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156082">
                    <a:lumMod val="60000"/>
                    <a:lumOff val="40000"/>
                  </a:srgbClr>
                </a:solidFill>
                <a:latin typeface="Aptos Display" charset="0"/>
                <a:ea typeface="+mn-ea"/>
                <a:cs typeface="+mn-ea"/>
                <a:sym typeface="+mn-ea"/>
              </a:rPr>
              <a:t>Problem Statement</a:t>
            </a: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0775" y="154806"/>
            <a:ext cx="1385664" cy="1385664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11240" y="1690694"/>
            <a:ext cx="10667994" cy="3878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Manual Part Identification Knowledge Gap</a:t>
            </a:r>
          </a:p>
          <a:p>
            <a:pPr marL="457200" indent="-457200" algn="l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endParaRPr 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Offline Market Fragmented Inventory Scouting</a:t>
            </a:r>
          </a:p>
          <a:p>
            <a:pPr marL="457200" indent="-457200" algn="l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endParaRPr 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Last-Mile Logistical Void Component Delivery</a:t>
            </a:r>
          </a:p>
          <a:p>
            <a:pPr marL="457200" indent="-457200" algn="l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endParaRPr 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Prohibitive Professional Performance Hardware Costs</a:t>
            </a:r>
          </a:p>
          <a:p>
            <a:pPr marL="457200" indent="-457200" algn="l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endParaRPr 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Inefficient Fragmented Auto Event Coordination</a:t>
            </a:r>
          </a:p>
          <a:p>
            <a:pPr marL="457200" indent="-457200" algn="l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endParaRPr 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Non-Expert Technical Modification Guidance Barrier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808855" y="27539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185" y="428772"/>
            <a:ext cx="8952914" cy="1069537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156082">
                    <a:lumMod val="60000"/>
                    <a:lumOff val="40000"/>
                  </a:srgbClr>
                </a:solidFill>
                <a:latin typeface="Aptos Display" charset="0"/>
                <a:ea typeface="+mn-ea"/>
                <a:cs typeface="+mn-ea"/>
                <a:sym typeface="+mn-ea"/>
              </a:rPr>
              <a:t>Motivation</a:t>
            </a:r>
            <a:endParaRPr lang="en-US" b="1" u="sng" dirty="0">
              <a:solidFill>
                <a:schemeClr val="accent1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3480" y="112261"/>
            <a:ext cx="1385664" cy="1385664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11240" y="1828489"/>
            <a:ext cx="10667994" cy="357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Automated AI Visual Identification System</a:t>
            </a:r>
          </a:p>
          <a:p>
            <a:pPr marL="285750" indent="-285750" algn="l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285750" indent="-285750" algn="l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Digitized Traditional Market Access Solution</a:t>
            </a:r>
          </a:p>
          <a:p>
            <a:pPr marL="285750" indent="-285750" algn="l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285750" indent="-285750" algn="l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Expert Technical Build Guidance Portal</a:t>
            </a:r>
          </a:p>
          <a:p>
            <a:pPr marL="285750" indent="-285750" algn="l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285750" indent="-285750" algn="l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Accessible Precision Performance Tracking Analytics</a:t>
            </a:r>
          </a:p>
          <a:p>
            <a:pPr marL="285750" indent="-285750" algn="l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285750" indent="-285750" algn="l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Professionalized Community Event Management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250" y="365125"/>
            <a:ext cx="895291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156082">
                    <a:lumMod val="60000"/>
                    <a:lumOff val="40000"/>
                  </a:srgbClr>
                </a:solidFill>
                <a:latin typeface="Aptos Display" charset="0"/>
                <a:ea typeface="+mn-ea"/>
                <a:cs typeface="+mn-ea"/>
                <a:sym typeface="+mn-ea"/>
              </a:rPr>
              <a:t>Expected Outcome</a:t>
            </a:r>
            <a:endParaRPr lang="en-US" u="sng" dirty="0">
              <a:solidFill>
                <a:schemeClr val="accent1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260" y="137026"/>
            <a:ext cx="1385664" cy="1385664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11240" y="1828489"/>
            <a:ext cx="10667994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 eaLnBrk="0" fontAlgn="base" hangingPunct="0">
              <a:lnSpc>
                <a:spcPct val="10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Functional AI Visual Identification Model</a:t>
            </a:r>
          </a:p>
          <a:p>
            <a:pPr marL="457200" indent="-457200" algn="l" eaLnBrk="0" fontAlgn="base" hangingPunct="0">
              <a:lnSpc>
                <a:spcPct val="10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 eaLnBrk="0" fontAlgn="base" hangingPunct="0">
              <a:lnSpc>
                <a:spcPct val="10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Unified Digital Vendor Marketplace Platform</a:t>
            </a:r>
          </a:p>
          <a:p>
            <a:pPr marL="457200" indent="-457200" algn="l" eaLnBrk="0" fontAlgn="base" hangingPunct="0">
              <a:lnSpc>
                <a:spcPct val="10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 eaLnBrk="0" fontAlgn="base" hangingPunct="0">
              <a:lnSpc>
                <a:spcPct val="10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Precision Smartphone Performance Logging System</a:t>
            </a:r>
          </a:p>
          <a:p>
            <a:pPr marL="457200" indent="-457200" algn="l" eaLnBrk="0" fontAlgn="base" hangingPunct="0">
              <a:lnSpc>
                <a:spcPct val="10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 eaLnBrk="0" fontAlgn="base" hangingPunct="0">
              <a:lnSpc>
                <a:spcPct val="10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Centralized Automated Community Event Portal</a:t>
            </a:r>
          </a:p>
          <a:p>
            <a:pPr marL="457200" indent="-457200" algn="l" eaLnBrk="0" fontAlgn="base" hangingPunct="0">
              <a:lnSpc>
                <a:spcPct val="10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 eaLnBrk="0" fontAlgn="base" hangingPunct="0">
              <a:lnSpc>
                <a:spcPct val="10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Personalized Budget Optimized Build Sheets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250" y="332105"/>
            <a:ext cx="895291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156082">
                    <a:lumMod val="60000"/>
                    <a:lumOff val="40000"/>
                  </a:srgbClr>
                </a:solidFill>
                <a:latin typeface="Aptos Display" charset="0"/>
                <a:ea typeface="+mn-ea"/>
                <a:cs typeface="+mn-ea"/>
                <a:sym typeface="+mn-ea"/>
              </a:rPr>
              <a:t>Impact of Software</a:t>
            </a:r>
            <a:endParaRPr lang="en-US" u="sng" dirty="0">
              <a:solidFill>
                <a:schemeClr val="accent1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360" y="137026"/>
            <a:ext cx="1385664" cy="1385664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11240" y="1522419"/>
            <a:ext cx="10667994" cy="357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AI Expert Intelligent Identification Support</a:t>
            </a: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Digital Market Inventory Integration Solution</a:t>
            </a: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Budget Optimized Modification Build Plans</a:t>
            </a: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Accessible Precision Performance Sensor Analytics</a:t>
            </a: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Automated Professional Event Coordination Portal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2060" y="5487035"/>
            <a:ext cx="7267575" cy="86931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r>
              <a:rPr lang="en-US" sz="4000" b="1" dirty="0">
                <a:solidFill>
                  <a:srgbClr val="156082">
                    <a:lumMod val="60000"/>
                    <a:lumOff val="40000"/>
                  </a:srgbClr>
                </a:solidFill>
                <a:latin typeface="Aptos" charset="0"/>
                <a:ea typeface="+mn-ea"/>
                <a:cs typeface="+mn-ea"/>
                <a:sym typeface="+mn-ea"/>
              </a:rPr>
              <a:t>Type of Project: Development</a:t>
            </a:r>
            <a:endParaRPr lang="en-US" b="1" dirty="0">
              <a:solidFill>
                <a:srgbClr val="156082">
                  <a:lumMod val="60000"/>
                  <a:lumOff val="40000"/>
                </a:srgbClr>
              </a:solidFill>
            </a:endParaRPr>
          </a:p>
          <a:p>
            <a:pPr algn="ctr"/>
            <a:endParaRPr lang="en-US" sz="4400" b="1" u="sng" dirty="0">
              <a:solidFill>
                <a:schemeClr val="accent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9415" y="332105"/>
            <a:ext cx="895291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156082">
                    <a:lumMod val="60000"/>
                    <a:lumOff val="40000"/>
                  </a:srgbClr>
                </a:solidFill>
                <a:latin typeface="Aptos Display" charset="0"/>
                <a:ea typeface="+mn-ea"/>
                <a:cs typeface="+mn-ea"/>
                <a:sym typeface="+mn-ea"/>
              </a:rPr>
              <a:t>Benefits</a:t>
            </a:r>
            <a:endParaRPr lang="en-US" u="sng" dirty="0">
              <a:solidFill>
                <a:schemeClr val="accent1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525" y="118611"/>
            <a:ext cx="1385664" cy="1385664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11240" y="1828489"/>
            <a:ext cx="10667994" cy="38785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 eaLnBrk="0" fontAlgn="base" hangingPunct="0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Automated AI Visual Automotive Identification System</a:t>
            </a:r>
          </a:p>
          <a:p>
            <a:pPr marL="457200" indent="-457200" algn="l" eaLnBrk="0" fontAlgn="base" hangingPunct="0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 eaLnBrk="0" fontAlgn="base" hangingPunct="0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Real-Time Vendor Market Stock Synchronization</a:t>
            </a:r>
          </a:p>
          <a:p>
            <a:pPr marL="457200" indent="-457200" algn="l" eaLnBrk="0" fontAlgn="base" hangingPunct="0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 eaLnBrk="0" fontAlgn="base" hangingPunct="0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Efficient Rider Last-Mile Logistics Dispatch</a:t>
            </a:r>
          </a:p>
          <a:p>
            <a:pPr marL="457200" indent="-457200" algn="l" eaLnBrk="0" fontAlgn="base" hangingPunct="0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 eaLnBrk="0" fontAlgn="base" hangingPunct="0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Expert Build Recommendation Personalization Assistant</a:t>
            </a:r>
          </a:p>
          <a:p>
            <a:pPr marL="457200" indent="-457200" algn="l" eaLnBrk="0" fontAlgn="base" hangingPunct="0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 eaLnBrk="0" fontAlgn="base" hangingPunct="0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Precision Smartphone GPS Performance Tracking</a:t>
            </a:r>
          </a:p>
          <a:p>
            <a:pPr marL="457200" indent="-457200" algn="l" eaLnBrk="0" fontAlgn="base" hangingPunct="0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 eaLnBrk="0" fontAlgn="base" hangingPunct="0">
              <a:lnSpc>
                <a:spcPct val="8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Centralized Automated Organizer Event Coordination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250" y="365125"/>
            <a:ext cx="895291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156082">
                    <a:lumMod val="60000"/>
                    <a:lumOff val="40000"/>
                  </a:srgbClr>
                </a:solidFill>
                <a:latin typeface="Aptos Display" charset="0"/>
                <a:ea typeface="+mn-ea"/>
                <a:cs typeface="+mn-ea"/>
                <a:sym typeface="+mn-ea"/>
              </a:rPr>
              <a:t>Project Scope</a:t>
            </a:r>
            <a:endParaRPr lang="en-US" u="sng" dirty="0">
              <a:solidFill>
                <a:schemeClr val="accent1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360" y="190366"/>
            <a:ext cx="1385664" cy="1385664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11240" y="1828489"/>
            <a:ext cx="10667994" cy="35769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National Enthusiast Automotive Market Reach</a:t>
            </a: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Visual Machine Learning Part Identification</a:t>
            </a: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Traditional Offline Vendor Market Integration</a:t>
            </a: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GPS Based Vehicle Performance Validation</a:t>
            </a: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8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</a:endParaRP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8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Comprehensive Community Auto Event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9125" y="332252"/>
            <a:ext cx="895291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156082">
                    <a:lumMod val="60000"/>
                    <a:lumOff val="40000"/>
                  </a:srgbClr>
                </a:solidFill>
                <a:latin typeface="Aptos Display" charset="0"/>
                <a:ea typeface="+mn-ea"/>
                <a:cs typeface="+mn-ea"/>
                <a:sym typeface="+mn-ea"/>
              </a:rPr>
              <a:t>High Level Features</a:t>
            </a:r>
            <a:endParaRPr lang="en-US" u="sng" dirty="0">
              <a:solidFill>
                <a:schemeClr val="accent1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525" y="136391"/>
            <a:ext cx="1385664" cy="1385664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10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11240" y="1828489"/>
            <a:ext cx="10667994" cy="3744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400" dirty="0">
                <a:solidFill>
                  <a:sysClr val="windowText" lastClr="000000"/>
                </a:solidFill>
                <a:latin typeface="Aptos" charset="0"/>
                <a:cs typeface="+mn-ea"/>
                <a:sym typeface="+mn-ea"/>
              </a:rPr>
              <a:t>Secure Unified Multi-Role User Authentication Portal</a:t>
            </a: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400" dirty="0">
              <a:solidFill>
                <a:sysClr val="windowText" lastClr="000000"/>
              </a:solidFill>
              <a:latin typeface="Aptos" charset="0"/>
              <a:cs typeface="+mn-ea"/>
              <a:sym typeface="+mn-ea"/>
            </a:endParaRP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400" dirty="0">
                <a:solidFill>
                  <a:sysClr val="windowText" lastClr="000000"/>
                </a:solidFill>
                <a:latin typeface="Aptos" charset="0"/>
                <a:cs typeface="+mn-ea"/>
                <a:sym typeface="+mn-ea"/>
              </a:rPr>
              <a:t>AI Visual Intelligent Automotive Component Identification</a:t>
            </a: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400" dirty="0">
              <a:solidFill>
                <a:sysClr val="windowText" lastClr="000000"/>
              </a:solidFill>
              <a:latin typeface="Aptos" charset="0"/>
              <a:cs typeface="+mn-ea"/>
              <a:sym typeface="+mn-ea"/>
            </a:endParaRP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400" dirty="0">
                <a:solidFill>
                  <a:sysClr val="windowText" lastClr="000000"/>
                </a:solidFill>
                <a:latin typeface="Aptos" charset="0"/>
                <a:cs typeface="+mn-ea"/>
                <a:sym typeface="+mn-ea"/>
              </a:rPr>
              <a:t>Live Synchronized Real-Time Offline Market Inventory</a:t>
            </a: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400" dirty="0">
              <a:solidFill>
                <a:sysClr val="windowText" lastClr="000000"/>
              </a:solidFill>
              <a:latin typeface="Aptos" charset="0"/>
              <a:cs typeface="+mn-ea"/>
              <a:sym typeface="+mn-ea"/>
            </a:endParaRP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400" dirty="0">
                <a:solidFill>
                  <a:sysClr val="windowText" lastClr="000000"/>
                </a:solidFill>
                <a:latin typeface="Aptos" charset="0"/>
                <a:cs typeface="+mn-ea"/>
                <a:sym typeface="+mn-ea"/>
              </a:rPr>
              <a:t>Interactive Expert System Budget-Specific Build Configurator</a:t>
            </a: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400" dirty="0">
              <a:solidFill>
                <a:sysClr val="windowText" lastClr="000000"/>
              </a:solidFill>
              <a:latin typeface="Aptos" charset="0"/>
              <a:cs typeface="+mn-ea"/>
              <a:sym typeface="+mn-ea"/>
            </a:endParaRP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400" dirty="0">
                <a:solidFill>
                  <a:sysClr val="windowText" lastClr="000000"/>
                </a:solidFill>
                <a:latin typeface="Aptos" charset="0"/>
                <a:cs typeface="+mn-ea"/>
                <a:sym typeface="+mn-ea"/>
              </a:rPr>
              <a:t>Smartphone Sensor Fusion Precise Performance Tracker</a:t>
            </a: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2400" dirty="0">
              <a:solidFill>
                <a:sysClr val="windowText" lastClr="000000"/>
              </a:solidFill>
              <a:latin typeface="Aptos" charset="0"/>
              <a:cs typeface="+mn-ea"/>
              <a:sym typeface="+mn-ea"/>
            </a:endParaRPr>
          </a:p>
          <a:p>
            <a:pPr marL="457200" indent="-457200" algn="l" eaLnBrk="0" fontAlgn="base" hangingPunct="0">
              <a:lnSpc>
                <a:spcPct val="9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2400" dirty="0">
                <a:solidFill>
                  <a:sysClr val="windowText" lastClr="000000"/>
                </a:solidFill>
                <a:latin typeface="Aptos" charset="0"/>
                <a:cs typeface="+mn-ea"/>
                <a:sym typeface="+mn-ea"/>
              </a:rPr>
              <a:t>Enterprise One-Click Automated Event Invitation System</a:t>
            </a:r>
            <a:r>
              <a:rPr lang="en-US" sz="2400" dirty="0">
                <a:solidFill>
                  <a:sysClr val="windowText" lastClr="000000"/>
                </a:solidFill>
                <a:latin typeface="Aptos" charset="0"/>
                <a:cs typeface="+mn-ea"/>
                <a:sym typeface="+mn-ea"/>
              </a:rPr>
              <a:t> </a:t>
            </a:r>
            <a:endParaRPr lang="en-US" sz="2400" b="0" i="0" u="none" strike="noStrike" baseline="0" dirty="0">
              <a:solidFill>
                <a:sysClr val="windowText" lastClr="000000"/>
              </a:solidFill>
              <a:latin typeface="Aptos" charset="0"/>
              <a:cs typeface="+mn-ea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250" y="332105"/>
            <a:ext cx="895291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156082">
                    <a:lumMod val="60000"/>
                    <a:lumOff val="40000"/>
                  </a:srgbClr>
                </a:solidFill>
                <a:latin typeface="Aptos Display" charset="0"/>
                <a:ea typeface="+mn-ea"/>
                <a:cs typeface="+mn-ea"/>
                <a:sym typeface="+mn-ea"/>
              </a:rPr>
              <a:t>Related Projects</a:t>
            </a:r>
            <a:endParaRPr lang="en-US" u="sng" dirty="0">
              <a:solidFill>
                <a:schemeClr val="accent1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360" y="154806"/>
            <a:ext cx="1385664" cy="1385664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11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1181735" y="2667000"/>
          <a:ext cx="9890125" cy="2933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7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8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5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11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4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6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280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Vendor managed catalogue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parts buy&amp;sell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Part identification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Recommendation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Performance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Autoevent invitation &amp;</a:t>
                      </a:r>
                    </a:p>
                    <a:p>
                      <a:pPr>
                        <a:buNone/>
                      </a:pPr>
                      <a:r>
                        <a:rPr lang="en-US" b="1"/>
                        <a:t>Forums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ym typeface="Wingdings" panose="05000000000000000000" charset="0"/>
                        </a:rPr>
                        <a:t></a:t>
                      </a:r>
                      <a:endParaRPr lang="en-US">
                        <a:sym typeface="Wingdings" panose="0500000000000000000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AutoPartBazar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ym typeface="Wingdings" panose="05000000000000000000" charset="0"/>
                        </a:rPr>
                        <a:t></a:t>
                      </a:r>
                      <a:endParaRPr lang="en-US">
                        <a:sym typeface="Wingdings" panose="0500000000000000000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Revxtend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ym typeface="Wingdings" panose="05000000000000000000" charset="0"/>
                        </a:rPr>
                        <a:t></a:t>
                      </a:r>
                      <a:endParaRPr lang="en-US">
                        <a:sym typeface="Wingdings" panose="05000000000000000000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solidFill>
                            <a:sysClr val="windowText" lastClr="000000"/>
                          </a:solidFill>
                          <a:latin typeface="Aptos" charset="0"/>
                          <a:cs typeface="+mn-ea"/>
                          <a:sym typeface="+mn-ea"/>
                        </a:rPr>
                        <a:t>Pakwheels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OmniDive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ym typeface="Wingdings" panose="05000000000000000000" charset="0"/>
                        </a:rPr>
                        <a:t>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ym typeface="Wingdings" panose="05000000000000000000" charset="0"/>
                        </a:rPr>
                        <a:t>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ym typeface="Wingdings" panose="05000000000000000000" charset="0"/>
                        </a:rPr>
                        <a:t>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ym typeface="Wingdings" panose="05000000000000000000" charset="0"/>
                        </a:rPr>
                        <a:t>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ym typeface="Wingdings" panose="05000000000000000000" charset="0"/>
                        </a:rPr>
                        <a:t>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sym typeface="Wingdings" panose="05000000000000000000" charset="0"/>
                        </a:rPr>
                        <a:t>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9415" y="279400"/>
            <a:ext cx="895291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156082">
                    <a:lumMod val="60000"/>
                    <a:lumOff val="40000"/>
                  </a:srgbClr>
                </a:solidFill>
                <a:latin typeface="Aptos Display" charset="0"/>
                <a:ea typeface="+mn-ea"/>
                <a:cs typeface="+mn-ea"/>
                <a:sym typeface="+mn-ea"/>
              </a:rPr>
              <a:t>Tools/Technologies/Environment</a:t>
            </a:r>
            <a:endParaRPr lang="en-US" u="sng" dirty="0">
              <a:solidFill>
                <a:schemeClr val="accent1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525" y="119246"/>
            <a:ext cx="1385664" cy="1385664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12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11240" y="1604969"/>
            <a:ext cx="10667994" cy="4154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l" eaLnBrk="0" fontAlgn="base" hangingPunct="0">
              <a:lnSpc>
                <a:spcPct val="11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sz="20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Mobile Development:</a:t>
            </a:r>
          </a:p>
          <a:p>
            <a:pPr marL="457200" lvl="1" indent="457200" algn="l" eaLnBrk="0" fontAlgn="base" hangingPunct="0">
              <a:lnSpc>
                <a:spcPct val="110000"/>
              </a:lnSpc>
              <a:buClrTx/>
              <a:buSzTx/>
              <a:buFont typeface="Wingdings" panose="05000000000000000000" charset="0"/>
              <a:buNone/>
            </a:pPr>
            <a:r>
              <a:rPr lang="en-US" sz="20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Flutter or React Native.</a:t>
            </a:r>
          </a:p>
          <a:p>
            <a:pPr marL="457200" indent="-457200" algn="l" eaLnBrk="0" fontAlgn="base" hangingPunct="0">
              <a:lnSpc>
                <a:spcPct val="11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sz="20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Machine Learning &amp; Vision: </a:t>
            </a:r>
          </a:p>
          <a:p>
            <a:pPr lvl="1" indent="457200" algn="l" eaLnBrk="0" fontAlgn="base" hangingPunct="0">
              <a:lnSpc>
                <a:spcPct val="110000"/>
              </a:lnSpc>
              <a:buClrTx/>
              <a:buSzTx/>
              <a:buFont typeface="Wingdings" panose="05000000000000000000" charset="0"/>
              <a:buNone/>
            </a:pPr>
            <a:r>
              <a:rPr lang="en-US" sz="20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Python, YOLO , and PyTorch/TensorFlow.</a:t>
            </a:r>
          </a:p>
          <a:p>
            <a:pPr marL="457200" indent="-457200" algn="l" eaLnBrk="0" fontAlgn="base" hangingPunct="0">
              <a:lnSpc>
                <a:spcPct val="11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sz="20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Backend &amp; API:</a:t>
            </a:r>
          </a:p>
          <a:p>
            <a:pPr marL="457200" lvl="1" indent="457200" algn="l" eaLnBrk="0" fontAlgn="base" hangingPunct="0">
              <a:lnSpc>
                <a:spcPct val="110000"/>
              </a:lnSpc>
              <a:buClrTx/>
              <a:buSzTx/>
              <a:buFont typeface="Wingdings" panose="05000000000000000000" charset="0"/>
              <a:buNone/>
            </a:pPr>
            <a:r>
              <a:rPr lang="en-US" sz="20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Node.js or </a:t>
            </a:r>
            <a:r>
              <a:rPr lang="en-US" sz="2000" b="0" i="0" u="none" strike="noStrike" baseline="0" dirty="0" err="1">
                <a:solidFill>
                  <a:sysClr val="windowText" lastClr="000000"/>
                </a:solidFill>
                <a:latin typeface="Aptos" charset="0"/>
                <a:cs typeface="+mn-ea"/>
              </a:rPr>
              <a:t>FastAPI</a:t>
            </a:r>
            <a:r>
              <a:rPr lang="en-US" sz="20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.</a:t>
            </a:r>
          </a:p>
          <a:p>
            <a:pPr marL="457200" indent="-457200" algn="l" eaLnBrk="0" fontAlgn="base" hangingPunct="0">
              <a:lnSpc>
                <a:spcPct val="11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sz="20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Data Processing:</a:t>
            </a:r>
          </a:p>
          <a:p>
            <a:pPr lvl="2" indent="0" algn="l" eaLnBrk="0" fontAlgn="base" hangingPunct="0">
              <a:lnSpc>
                <a:spcPct val="110000"/>
              </a:lnSpc>
              <a:buClrTx/>
              <a:buSzTx/>
              <a:buFont typeface="Wingdings" panose="05000000000000000000" charset="0"/>
              <a:buNone/>
            </a:pPr>
            <a:r>
              <a:rPr lang="en-US" sz="20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OpenCV and Pandas.</a:t>
            </a:r>
          </a:p>
          <a:p>
            <a:pPr marL="457200" indent="-457200" algn="l" eaLnBrk="0" fontAlgn="base" hangingPunct="0">
              <a:lnSpc>
                <a:spcPct val="11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sz="20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Database &amp; Cloud:</a:t>
            </a:r>
          </a:p>
          <a:p>
            <a:pPr lvl="1" indent="457200" algn="l" eaLnBrk="0" fontAlgn="base" hangingPunct="0">
              <a:lnSpc>
                <a:spcPct val="110000"/>
              </a:lnSpc>
              <a:buClrTx/>
              <a:buSzTx/>
              <a:buFont typeface="Wingdings" panose="05000000000000000000" charset="0"/>
              <a:buNone/>
            </a:pPr>
            <a:r>
              <a:rPr lang="en-US" sz="20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PostgreSQL and </a:t>
            </a:r>
            <a:r>
              <a:rPr lang="en-US" sz="2000" b="0" i="0" u="none" strike="noStrike" baseline="0" dirty="0" err="1">
                <a:solidFill>
                  <a:sysClr val="windowText" lastClr="000000"/>
                </a:solidFill>
                <a:latin typeface="Aptos" charset="0"/>
                <a:cs typeface="+mn-ea"/>
              </a:rPr>
              <a:t>Supabase</a:t>
            </a:r>
            <a:r>
              <a:rPr lang="en-US" sz="20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.</a:t>
            </a:r>
          </a:p>
          <a:p>
            <a:pPr marL="457200" indent="-457200" algn="l" eaLnBrk="0" fontAlgn="base" hangingPunct="0">
              <a:lnSpc>
                <a:spcPct val="11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sz="20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Development Tools:</a:t>
            </a:r>
          </a:p>
          <a:p>
            <a:pPr lvl="1" indent="457200" algn="l" eaLnBrk="0" fontAlgn="base" hangingPunct="0">
              <a:lnSpc>
                <a:spcPct val="110000"/>
              </a:lnSpc>
              <a:buClrTx/>
              <a:buSzTx/>
              <a:buFont typeface="Wingdings" panose="05000000000000000000" charset="0"/>
              <a:buNone/>
            </a:pPr>
            <a:r>
              <a:rPr lang="en-US" sz="2000" b="0" i="0" u="none" strike="noStrike" baseline="0" dirty="0">
                <a:solidFill>
                  <a:sysClr val="windowText" lastClr="000000"/>
                </a:solidFill>
                <a:latin typeface="Aptos" charset="0"/>
                <a:cs typeface="+mn-ea"/>
              </a:rPr>
              <a:t>GitHub(branching), VS Code, and Postman</a:t>
            </a:r>
            <a:r>
              <a:rPr lang="en-US" altLang="en-US" sz="16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9415" y="332105"/>
            <a:ext cx="895291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156082">
                    <a:lumMod val="60000"/>
                    <a:lumOff val="40000"/>
                  </a:srgbClr>
                </a:solidFill>
                <a:latin typeface="Aptos Display" charset="0"/>
                <a:ea typeface="+mn-ea"/>
                <a:cs typeface="+mn-ea"/>
                <a:sym typeface="+mn-ea"/>
              </a:rPr>
              <a:t>High Level System Diagram</a:t>
            </a:r>
            <a:endParaRPr lang="en-US" u="sng" dirty="0">
              <a:solidFill>
                <a:schemeClr val="accent1"/>
              </a:solidFill>
            </a:endParaRP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525" y="118611"/>
            <a:ext cx="1385664" cy="1385664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811240" y="1828489"/>
            <a:ext cx="10667994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4"/>
          <a:srcRect l="6385" r="4029"/>
          <a:stretch>
            <a:fillRect/>
          </a:stretch>
        </p:blipFill>
        <p:spPr>
          <a:xfrm>
            <a:off x="3559175" y="1504315"/>
            <a:ext cx="5298440" cy="4916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AB018-BF4B-3814-0DF7-5905AD92E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0A42C-E13F-94DB-3D2D-5A3B094FF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415" y="332105"/>
            <a:ext cx="895291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156082">
                    <a:lumMod val="60000"/>
                    <a:lumOff val="40000"/>
                  </a:srgbClr>
                </a:solidFill>
                <a:latin typeface="Aptos Display" charset="0"/>
                <a:ea typeface="+mn-ea"/>
                <a:cs typeface="+mn-ea"/>
                <a:sym typeface="+mn-ea"/>
              </a:rPr>
              <a:t>Work break down structure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FB88735-5D21-3055-5759-53C77B35A0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525" y="118611"/>
            <a:ext cx="1385664" cy="1385664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ED58B9-3554-9790-B8B3-584EFAA48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7FE09C-23F4-18E1-F2DE-A049818E87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1" descr="IMG_256">
            <a:extLst>
              <a:ext uri="{FF2B5EF4-FFF2-40B4-BE49-F238E27FC236}">
                <a16:creationId xmlns:a16="http://schemas.microsoft.com/office/drawing/2014/main" id="{CC5AAAA8-CD70-4438-BB5B-E7F71362B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0" t="11745" r="3513" b="44583"/>
          <a:stretch>
            <a:fillRect/>
          </a:stretch>
        </p:blipFill>
        <p:spPr bwMode="auto">
          <a:xfrm>
            <a:off x="709145" y="1836380"/>
            <a:ext cx="10773710" cy="425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863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50255"/>
          </a:xfrm>
        </p:spPr>
        <p:txBody>
          <a:bodyPr/>
          <a:lstStyle/>
          <a:p>
            <a:pPr algn="ctr"/>
            <a:r>
              <a:rPr lang="en-US" sz="7200" b="1" dirty="0">
                <a:solidFill>
                  <a:srgbClr val="156082">
                    <a:lumMod val="60000"/>
                    <a:lumOff val="40000"/>
                  </a:srgbClr>
                </a:solidFill>
                <a:latin typeface="Aptos Display" charset="0"/>
                <a:ea typeface="+mn-ea"/>
                <a:cs typeface="+mn-ea"/>
              </a:rPr>
              <a:t>Thank You!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64944-C185-42A3-B9E2-0C66306C0823}" type="slidenum">
              <a:rPr lang="en-US" smtClean="0"/>
              <a:t>15</a:t>
            </a:fld>
            <a:endParaRPr lang="en-US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2525" y="118611"/>
            <a:ext cx="1385664" cy="1385664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493</Words>
  <Application>Microsoft Office PowerPoint</Application>
  <PresentationFormat>Widescreen</PresentationFormat>
  <Paragraphs>228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Calibri Light</vt:lpstr>
      <vt:lpstr>Times New Roman</vt:lpstr>
      <vt:lpstr>Wingdings</vt:lpstr>
      <vt:lpstr>Office Theme</vt:lpstr>
      <vt:lpstr> </vt:lpstr>
      <vt:lpstr>PowerPoint Presentation</vt:lpstr>
      <vt:lpstr>Outline</vt:lpstr>
      <vt:lpstr>Problem Statement</vt:lpstr>
      <vt:lpstr>Motivation</vt:lpstr>
      <vt:lpstr>Expected Outcome</vt:lpstr>
      <vt:lpstr>Impact of Software</vt:lpstr>
      <vt:lpstr>Benefits</vt:lpstr>
      <vt:lpstr>Project Scope</vt:lpstr>
      <vt:lpstr>High Level Features</vt:lpstr>
      <vt:lpstr>Related Projects</vt:lpstr>
      <vt:lpstr>Tools/Technologies/Environment</vt:lpstr>
      <vt:lpstr>High Level System Diagram</vt:lpstr>
      <vt:lpstr>Work break down structure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Test</cp:lastModifiedBy>
  <cp:revision>63</cp:revision>
  <dcterms:created xsi:type="dcterms:W3CDTF">2020-03-04T09:32:00Z</dcterms:created>
  <dcterms:modified xsi:type="dcterms:W3CDTF">2026-02-03T06:52:38Z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4801E0AF4F8A4CF59A73B04E8FDE7E32_13</vt:lpwstr>
  </property>
  <property fmtid="{D5CDD505-2E9C-101B-9397-08002B2CF9AE}" pid="3" name="KSOProductBuildVer">
    <vt:lpwstr>1033-12.2.0.23196</vt:lpwstr>
  </property>
</Properties>
</file>